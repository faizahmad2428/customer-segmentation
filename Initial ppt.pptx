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nton" pitchFamily="2" charset="0"/>
      <p:regular r:id="rId11"/>
    </p:embeddedFont>
    <p:embeddedFont>
      <p:font typeface="Impact" panose="020B0806030902050204" pitchFamily="34" charset="0"/>
      <p:regular r:id="rId12"/>
    </p:embeddedFont>
    <p:embeddedFont>
      <p:font typeface="Poppins" panose="00000500000000000000" pitchFamily="2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8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1B113-BE11-48EC-BFCB-F617573E6EE4}" type="datetimeFigureOut">
              <a:rPr lang="en-PK" smtClean="0"/>
              <a:t>10/04/2025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6CD64-6F33-4516-88BE-8D437F9A12F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718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1️⃣ </a:t>
            </a:r>
            <a:r>
              <a:rPr lang="en-US" b="1" dirty="0"/>
              <a:t>Recency (R)</a:t>
            </a:r>
            <a:r>
              <a:rPr lang="en-US" dirty="0"/>
              <a:t> → How recently did the customer make a purchase?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Calculation: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 the </a:t>
            </a:r>
            <a:r>
              <a:rPr lang="en-US" b="1" dirty="0"/>
              <a:t>latest purchase date</a:t>
            </a:r>
            <a:r>
              <a:rPr lang="en-US" dirty="0"/>
              <a:t> in the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 the difference between that date and each </a:t>
            </a:r>
            <a:r>
              <a:rPr lang="en-US" b="1" dirty="0"/>
              <a:t>customer’s last purchase date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Lower value = more recent purchase (better customer engagement).</a:t>
            </a:r>
            <a:endParaRPr lang="en-US" dirty="0"/>
          </a:p>
          <a:p>
            <a:pPr>
              <a:buNone/>
            </a:pPr>
            <a:r>
              <a:rPr lang="en-US" dirty="0"/>
              <a:t>2️⃣ </a:t>
            </a:r>
            <a:r>
              <a:rPr lang="en-US" b="1" dirty="0"/>
              <a:t>Frequency (F)</a:t>
            </a:r>
            <a:r>
              <a:rPr lang="en-US" dirty="0"/>
              <a:t> → How often does the customer make purchases?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Calculation: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Count the number of unique invoices (</a:t>
            </a:r>
            <a:r>
              <a:rPr lang="en-US" dirty="0" err="1"/>
              <a:t>InvoiceNo</a:t>
            </a:r>
            <a:r>
              <a:rPr lang="en-US" dirty="0"/>
              <a:t>) per customer.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Higher value = more frequent purchases (loyal customers).</a:t>
            </a:r>
            <a:endParaRPr lang="en-US" dirty="0"/>
          </a:p>
          <a:p>
            <a:pPr>
              <a:buNone/>
            </a:pPr>
            <a:r>
              <a:rPr lang="en-US" dirty="0"/>
              <a:t>3️⃣ </a:t>
            </a:r>
            <a:r>
              <a:rPr lang="en-US" b="1" dirty="0"/>
              <a:t>Monetary Value (M)</a:t>
            </a:r>
            <a:r>
              <a:rPr lang="en-US" dirty="0"/>
              <a:t> → How much money has the customer spent?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 Calculation: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Sum of Quantity × </a:t>
            </a:r>
            <a:r>
              <a:rPr lang="en-US" dirty="0" err="1"/>
              <a:t>UnitPrice</a:t>
            </a:r>
            <a:r>
              <a:rPr lang="en-US" dirty="0"/>
              <a:t> for each customer.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Higher value = high-value customer.</a:t>
            </a:r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6CD64-6F33-4516-88BE-8D437F9A12FB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0416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 handle large datasets efficiently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6CD64-6F33-4516-88BE-8D437F9A12FB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039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databricks/Spark-The-Definitive-Guide/blob/master/data/retail-data/all/online-retail-dataset.cs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66517">
            <a:off x="8172982" y="-1473762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 rot="1493551">
            <a:off x="-3091661" y="3509943"/>
            <a:ext cx="15325477" cy="8242765"/>
          </a:xfrm>
          <a:custGeom>
            <a:avLst/>
            <a:gdLst/>
            <a:ahLst/>
            <a:cxnLst/>
            <a:rect l="l" t="t" r="r" b="b"/>
            <a:pathLst>
              <a:path w="15325477" h="8242765">
                <a:moveTo>
                  <a:pt x="0" y="0"/>
                </a:moveTo>
                <a:lnTo>
                  <a:pt x="15325477" y="0"/>
                </a:lnTo>
                <a:lnTo>
                  <a:pt x="15325477" y="8242765"/>
                </a:lnTo>
                <a:lnTo>
                  <a:pt x="0" y="824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4350042" y="349542"/>
            <a:ext cx="9587917" cy="9587917"/>
          </a:xfrm>
          <a:custGeom>
            <a:avLst/>
            <a:gdLst/>
            <a:ahLst/>
            <a:cxnLst/>
            <a:rect l="l" t="t" r="r" b="b"/>
            <a:pathLst>
              <a:path w="9587917" h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TextBox 5"/>
          <p:cNvSpPr txBox="1"/>
          <p:nvPr/>
        </p:nvSpPr>
        <p:spPr>
          <a:xfrm>
            <a:off x="1725579" y="1028781"/>
            <a:ext cx="14319257" cy="508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Customer </a:t>
            </a:r>
          </a:p>
          <a:p>
            <a:pPr algn="ctr">
              <a:lnSpc>
                <a:spcPts val="20851"/>
              </a:lnSpc>
            </a:pPr>
            <a:r>
              <a:rPr lang="en-US" sz="14893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Segmentation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4950" y="6748641"/>
            <a:ext cx="5318100" cy="177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sz="3200" spc="74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Faiz Ahmad </a:t>
            </a:r>
          </a:p>
          <a:p>
            <a:pPr algn="ctr">
              <a:lnSpc>
                <a:spcPts val="4736"/>
              </a:lnSpc>
            </a:pPr>
            <a:r>
              <a:rPr lang="en-US" sz="3200" spc="74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</a:p>
          <a:p>
            <a:pPr algn="ctr">
              <a:lnSpc>
                <a:spcPts val="4736"/>
              </a:lnSpc>
            </a:pPr>
            <a:r>
              <a:rPr lang="en-US" sz="3200" spc="74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UMER FAROOQ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3588" y="5806884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9657079" y="1600342"/>
            <a:ext cx="7060793" cy="6649983"/>
          </a:xfrm>
          <a:custGeom>
            <a:avLst/>
            <a:gdLst/>
            <a:ahLst/>
            <a:cxnLst/>
            <a:rect l="l" t="t" r="r" b="b"/>
            <a:pathLst>
              <a:path w="7060793" h="6649983">
                <a:moveTo>
                  <a:pt x="0" y="0"/>
                </a:moveTo>
                <a:lnTo>
                  <a:pt x="7060793" y="0"/>
                </a:lnTo>
                <a:lnTo>
                  <a:pt x="7060793" y="6649983"/>
                </a:lnTo>
                <a:lnTo>
                  <a:pt x="0" y="664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-4664621" y="-75312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TextBox 5"/>
          <p:cNvSpPr txBox="1"/>
          <p:nvPr/>
        </p:nvSpPr>
        <p:spPr>
          <a:xfrm>
            <a:off x="1840626" y="3977108"/>
            <a:ext cx="6640906" cy="320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segmentation is a key strategy used in businesses to group customers based on their purchasing behaviors. This allows companies to tailor marketing efforts, improve product recommendations, and enhance customer service strategies.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0626" y="2263562"/>
            <a:ext cx="7455774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INTRODUCITON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92224" y="-3732007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-1066800" y="0"/>
            <a:ext cx="4932403" cy="10808055"/>
          </a:xfrm>
          <a:custGeom>
            <a:avLst/>
            <a:gdLst/>
            <a:ahLst/>
            <a:cxnLst/>
            <a:rect l="l" t="t" r="r" b="b"/>
            <a:pathLst>
              <a:path w="4932403" h="10808055">
                <a:moveTo>
                  <a:pt x="0" y="0"/>
                </a:moveTo>
                <a:lnTo>
                  <a:pt x="4932404" y="0"/>
                </a:lnTo>
                <a:lnTo>
                  <a:pt x="4932404" y="10808055"/>
                </a:lnTo>
                <a:lnTo>
                  <a:pt x="0" y="10808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13917121" y="4900273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TextBox 7"/>
          <p:cNvSpPr txBox="1"/>
          <p:nvPr/>
        </p:nvSpPr>
        <p:spPr>
          <a:xfrm>
            <a:off x="4800600" y="1181100"/>
            <a:ext cx="6640906" cy="161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PROBLEM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5D72AE-9E50-8D74-2303-F09D4A13CC44}"/>
              </a:ext>
            </a:extLst>
          </p:cNvPr>
          <p:cNvSpPr txBox="1"/>
          <p:nvPr/>
        </p:nvSpPr>
        <p:spPr>
          <a:xfrm>
            <a:off x="4800600" y="3157444"/>
            <a:ext cx="12816590" cy="40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11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Identify high-value customers vs casual shoppers</a:t>
            </a:r>
          </a:p>
          <a:p>
            <a:pPr marL="514350" indent="-514350">
              <a:lnSpc>
                <a:spcPts val="11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Improve retention by targeting customers with personalized data</a:t>
            </a:r>
          </a:p>
          <a:p>
            <a:pPr marL="514350" indent="-514350">
              <a:lnSpc>
                <a:spcPts val="11000"/>
              </a:lnSpc>
              <a:buAutoNum type="arabicPeriod"/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Impact"/>
                <a:cs typeface="Arial" panose="020B0604020202020204" pitchFamily="34" charset="0"/>
                <a:sym typeface="Impact"/>
              </a:rPr>
              <a:t>Optimize marketing strategies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55941-730D-ACA2-BB17-2CAC1EE9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80EB4E0-6429-1E60-94E4-A975D20CA5BE}"/>
              </a:ext>
            </a:extLst>
          </p:cNvPr>
          <p:cNvSpPr txBox="1"/>
          <p:nvPr/>
        </p:nvSpPr>
        <p:spPr>
          <a:xfrm>
            <a:off x="4876800" y="266700"/>
            <a:ext cx="8080872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Work Flow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F667EAB-0C0C-6F83-A1AB-6E1A0F760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67547"/>
            <a:ext cx="17678399" cy="8450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 Featuring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PK" sz="269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We will categorize customers based on RFM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PK" sz="269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PK" sz="269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</a:t>
            </a:r>
            <a:r>
              <a:rPr lang="en-US" altLang="en-PK" sz="269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ecenc</a:t>
            </a: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     (How recently did the customer make a purchase?)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PK" sz="269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</a:t>
            </a:r>
            <a:r>
              <a:rPr lang="en-US" altLang="en-PK" sz="269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requency (How often does the customer make purchases?)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PK" sz="269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</a:t>
            </a:r>
            <a:r>
              <a:rPr lang="en-US" altLang="en-PK" sz="269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onetary</a:t>
            </a:r>
            <a:r>
              <a:rPr lang="en-US" altLang="en-PK" sz="269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US" altLang="en-PK" sz="269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(How much money has the customer spent?)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PK" sz="269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PK" sz="269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 predict which segment a customer belongs to, i.e., High-Value, Churn Risk, Frequent Buyer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PK" altLang="en-PK" sz="269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Model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PK" sz="269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Normalize the data (because Recency, Frequency, and Monetary have different scales).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Apply K-Means Clustering to group customers into segments.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69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Label customers as: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High-Value Customers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Frequent Buyers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Churn Risk Customers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PK" sz="269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One-Time Buyers</a:t>
            </a:r>
          </a:p>
        </p:txBody>
      </p:sp>
    </p:spTree>
    <p:extLst>
      <p:ext uri="{BB962C8B-B14F-4D97-AF65-F5344CB8AC3E}">
        <p14:creationId xmlns:p14="http://schemas.microsoft.com/office/powerpoint/2010/main" val="360504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31070" y="657225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TextBox 3"/>
          <p:cNvSpPr txBox="1"/>
          <p:nvPr/>
        </p:nvSpPr>
        <p:spPr>
          <a:xfrm>
            <a:off x="3276600" y="3086100"/>
            <a:ext cx="13162337" cy="598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1"/>
              </a:lnSpc>
            </a:pP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</a:p>
          <a:p>
            <a:pPr algn="l">
              <a:lnSpc>
                <a:spcPts val="3621"/>
              </a:lnSpc>
            </a:pP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Retail Dataset </a:t>
            </a:r>
            <a:endParaRPr lang="en-US" sz="2800" dirty="0">
              <a:solidFill>
                <a:schemeClr val="accent5">
                  <a:lumMod val="20000"/>
                  <a:lumOff val="8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endParaRPr lang="en-US" sz="2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SQL:</a:t>
            </a:r>
          </a:p>
          <a:p>
            <a:pPr algn="l">
              <a:lnSpc>
                <a:spcPts val="3621"/>
              </a:lnSpc>
            </a:pPr>
            <a: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data extraction </a:t>
            </a:r>
          </a:p>
          <a:p>
            <a:pPr algn="l">
              <a:lnSpc>
                <a:spcPts val="3621"/>
              </a:lnSpc>
            </a:pPr>
            <a:endParaRPr lang="en-US" sz="2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Pandas and numpy:</a:t>
            </a:r>
          </a:p>
          <a:p>
            <a:pPr algn="l">
              <a:lnSpc>
                <a:spcPts val="3621"/>
              </a:lnSpc>
            </a:pP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file handling and manipulation </a:t>
            </a:r>
          </a:p>
          <a:p>
            <a:pPr algn="l">
              <a:lnSpc>
                <a:spcPts val="3621"/>
              </a:lnSpc>
            </a:pPr>
            <a:endParaRPr lang="en-US" sz="2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r>
              <a:rPr lang="en-US" sz="28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Scikit learn: </a:t>
            </a:r>
          </a:p>
          <a:p>
            <a:pPr algn="l">
              <a:lnSpc>
                <a:spcPts val="3621"/>
              </a:lnSpc>
            </a:pPr>
            <a:r>
              <a:rPr lang="en-US" sz="2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Applying clustering models such as K-means</a:t>
            </a:r>
          </a:p>
          <a:p>
            <a:pPr algn="l">
              <a:lnSpc>
                <a:spcPts val="3621"/>
              </a:lnSpc>
            </a:pPr>
            <a:endParaRPr lang="en-US" sz="2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21"/>
              </a:lnSpc>
            </a:pPr>
            <a:endParaRPr lang="en-US" sz="28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800600" y="800100"/>
            <a:ext cx="8763000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TECH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44528" y="895350"/>
            <a:ext cx="8998943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KEY COMPONENTS</a:t>
            </a:r>
          </a:p>
        </p:txBody>
      </p:sp>
      <p:sp>
        <p:nvSpPr>
          <p:cNvPr id="6" name="Freeform 6"/>
          <p:cNvSpPr/>
          <p:nvPr/>
        </p:nvSpPr>
        <p:spPr>
          <a:xfrm>
            <a:off x="-2895600" y="-1866998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D2E9AEE-9D4B-DC93-16D3-2554A122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146" y="2476500"/>
            <a:ext cx="15765854" cy="754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 Collection</a:t>
            </a:r>
            <a:endParaRPr kumimoji="0" lang="en-US" altLang="en-PK" sz="269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269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Extracting customer purchase data from SQL databases or CSV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Structuring data with attributes like customer ID, transaction date, and purchase amount.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69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Data Preprocessing</a:t>
            </a:r>
            <a:endParaRPr kumimoji="0" lang="en-PK" altLang="en-PK" sz="269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Handling missing values and data inconsistencies.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Transforming transaction data into an RFM table.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69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Feature Engineering (RFM Analysis)</a:t>
            </a:r>
            <a:endParaRPr kumimoji="0" lang="en-PK" altLang="en-PK" sz="269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Recency (R):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Days since last purchase.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Frequency (F):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Total number of purchases.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Monetary Value (M):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Total amount spent.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269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Clustering Algorithm (Machine Learning)</a:t>
            </a:r>
            <a:endParaRPr kumimoji="0" lang="en-PK" altLang="en-PK" sz="269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Applying </a:t>
            </a: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K-Means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clustering or </a:t>
            </a: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Hierarchical Clustering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group customers.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Evaluating cluster performance using the </a:t>
            </a: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Elbow Method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or </a:t>
            </a:r>
            <a:r>
              <a:rPr kumimoji="0" lang="en-PK" altLang="en-PK" sz="269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Silhouette Score</a:t>
            </a:r>
            <a:r>
              <a:rPr kumimoji="0" lang="en-PK" altLang="en-PK" sz="269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269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04618" y="5473935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TextBox 3"/>
          <p:cNvSpPr txBox="1"/>
          <p:nvPr/>
        </p:nvSpPr>
        <p:spPr>
          <a:xfrm>
            <a:off x="5366796" y="1417537"/>
            <a:ext cx="7554408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9734" dirty="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Core Features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13380922" y="-3460452"/>
            <a:ext cx="8115300" cy="8115300"/>
          </a:xfrm>
          <a:custGeom>
            <a:avLst/>
            <a:gdLst/>
            <a:ahLst/>
            <a:cxnLst/>
            <a:rect l="l" t="t" r="r" b="b"/>
            <a:pathLst>
              <a:path w="8115300" h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TextBox 5"/>
          <p:cNvSpPr txBox="1"/>
          <p:nvPr/>
        </p:nvSpPr>
        <p:spPr>
          <a:xfrm>
            <a:off x="2749322" y="3527906"/>
            <a:ext cx="12647467" cy="5358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0281" lvl="1" indent="-457200" algn="l">
              <a:lnSpc>
                <a:spcPts val="4190"/>
              </a:lnSpc>
              <a:buFont typeface="Arial" panose="020B0604020202020204" pitchFamily="34" charset="0"/>
              <a:buChar char="•"/>
            </a:pPr>
            <a:r>
              <a:rPr lang="en-US" sz="29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Automated Customer Segmentation – Categorizes customers dynamically based on recent purchases, frequency, and spending.</a:t>
            </a:r>
          </a:p>
          <a:p>
            <a:pPr marL="780281" lvl="1" indent="-457200" algn="l">
              <a:lnSpc>
                <a:spcPts val="4190"/>
              </a:lnSpc>
              <a:buFont typeface="Arial" panose="020B0604020202020204" pitchFamily="34" charset="0"/>
              <a:buChar char="•"/>
            </a:pPr>
            <a:r>
              <a:rPr lang="en-US" sz="29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SQL Integration – Retrieves real-time customer data from structured databases.</a:t>
            </a:r>
          </a:p>
          <a:p>
            <a:pPr marL="780281" lvl="1" indent="-457200" algn="l">
              <a:lnSpc>
                <a:spcPts val="4190"/>
              </a:lnSpc>
              <a:buFont typeface="Arial" panose="020B0604020202020204" pitchFamily="34" charset="0"/>
              <a:buChar char="•"/>
            </a:pPr>
            <a:r>
              <a:rPr lang="en-US" sz="29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Scalability – Can handle large datasets efficiently.</a:t>
            </a:r>
          </a:p>
          <a:p>
            <a:pPr marL="780281" lvl="1" indent="-457200" algn="l">
              <a:lnSpc>
                <a:spcPts val="4190"/>
              </a:lnSpc>
              <a:buFont typeface="Arial" panose="020B0604020202020204" pitchFamily="34" charset="0"/>
              <a:buChar char="•"/>
            </a:pPr>
            <a:r>
              <a:rPr lang="en-US" sz="29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 Insights – Generates easy-to-interpret graphs and reports.</a:t>
            </a:r>
          </a:p>
          <a:p>
            <a:pPr marL="780281" lvl="1" indent="-457200" algn="l">
              <a:lnSpc>
                <a:spcPts val="4190"/>
              </a:lnSpc>
              <a:buFont typeface="Arial" panose="020B0604020202020204" pitchFamily="34" charset="0"/>
              <a:buChar char="•"/>
            </a:pPr>
            <a:r>
              <a:rPr lang="en-US" sz="2992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Personalized Strategy – Helps businesses target different customer groups with relevant offers.</a:t>
            </a:r>
          </a:p>
        </p:txBody>
      </p:sp>
      <p:sp>
        <p:nvSpPr>
          <p:cNvPr id="6" name="Freeform 6"/>
          <p:cNvSpPr/>
          <p:nvPr/>
        </p:nvSpPr>
        <p:spPr>
          <a:xfrm rot="3551336">
            <a:off x="-1932994" y="-600640"/>
            <a:ext cx="4714684" cy="4208927"/>
          </a:xfrm>
          <a:custGeom>
            <a:avLst/>
            <a:gdLst/>
            <a:ahLst/>
            <a:cxnLst/>
            <a:rect l="l" t="t" r="r" b="b"/>
            <a:pathLst>
              <a:path w="4714684" h="4208927">
                <a:moveTo>
                  <a:pt x="0" y="0"/>
                </a:moveTo>
                <a:lnTo>
                  <a:pt x="4714684" y="0"/>
                </a:lnTo>
                <a:lnTo>
                  <a:pt x="4714684" y="4208927"/>
                </a:lnTo>
                <a:lnTo>
                  <a:pt x="0" y="42089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14780685" y="6825112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5015" y="542925"/>
            <a:ext cx="9201150" cy="9201150"/>
          </a:xfrm>
          <a:custGeom>
            <a:avLst/>
            <a:gdLst/>
            <a:ahLst/>
            <a:cxnLst/>
            <a:rect l="l" t="t" r="r" b="b"/>
            <a:pathLst>
              <a:path w="9201150" h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 rot="2578375">
            <a:off x="8323700" y="-4291982"/>
            <a:ext cx="15959856" cy="8583964"/>
          </a:xfrm>
          <a:custGeom>
            <a:avLst/>
            <a:gdLst/>
            <a:ahLst/>
            <a:cxnLst/>
            <a:rect l="l" t="t" r="r" b="b"/>
            <a:pathLst>
              <a:path w="15959856" h="8583964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1984372" y="3726507"/>
            <a:ext cx="14319257" cy="254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1366517">
            <a:off x="-1768901" y="4979430"/>
            <a:ext cx="12307770" cy="7200900"/>
          </a:xfrm>
          <a:custGeom>
            <a:avLst/>
            <a:gdLst/>
            <a:ahLst/>
            <a:cxnLst/>
            <a:rect l="l" t="t" r="r" b="b"/>
            <a:pathLst>
              <a:path w="12307770" h="720090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495</Words>
  <Application>Microsoft Office PowerPoint</Application>
  <PresentationFormat>Custom</PresentationFormat>
  <Paragraphs>85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Impact</vt:lpstr>
      <vt:lpstr>Aptos</vt:lpstr>
      <vt:lpstr>Poppins</vt:lpstr>
      <vt:lpstr>Anton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 Company Presentation</dc:title>
  <dc:creator>Krakenhouse</dc:creator>
  <cp:lastModifiedBy>Muhammad Umer Farooq</cp:lastModifiedBy>
  <cp:revision>6</cp:revision>
  <dcterms:created xsi:type="dcterms:W3CDTF">2006-08-16T00:00:00Z</dcterms:created>
  <dcterms:modified xsi:type="dcterms:W3CDTF">2025-04-10T07:53:27Z</dcterms:modified>
  <dc:identifier>DAGcxmfJ7-o</dc:identifier>
</cp:coreProperties>
</file>